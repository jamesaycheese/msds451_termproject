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84" r:id="rId5"/>
    <p:sldId id="2147375841" r:id="rId6"/>
    <p:sldId id="2147375860" r:id="rId7"/>
    <p:sldId id="2147375861" r:id="rId8"/>
    <p:sldId id="2147375864" r:id="rId9"/>
    <p:sldId id="2147375862" r:id="rId10"/>
    <p:sldId id="2147375863" r:id="rId11"/>
    <p:sldId id="2147375865" r:id="rId12"/>
    <p:sldId id="2147375866" r:id="rId13"/>
    <p:sldId id="2147375870" r:id="rId14"/>
    <p:sldId id="2147375869" r:id="rId15"/>
    <p:sldId id="2147375868" r:id="rId16"/>
    <p:sldId id="2147375867" r:id="rId17"/>
    <p:sldId id="2147375872" r:id="rId18"/>
    <p:sldId id="21473758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2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D7624-CDF4-4F76-889A-8D3D2842762E}" type="datetimeFigureOut"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8AC6B-5435-4BE7-803C-F72F204B4DE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82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07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41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F6293-6BB7-8412-B79B-7E405760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AD186-F567-9C18-978C-A4C6D37F4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6F817-9C38-C825-1E44-4F53629F1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F5582-A87B-50C1-23E8-2E1D702D9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6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EB4A-A9C4-C850-5BD6-F3E0C6C9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E83CB-8071-85DC-42DC-C50B82FF9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6E85A-9709-E208-71EC-7FEB0BF05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60B90-CD40-5F4E-2CEC-360C9E235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98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2B01-6A82-8D39-305D-B4AC775F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EA9C5-13E6-BD5C-C373-9E6F788C3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411E7-437D-CE83-A37B-1210F3C30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6DD1F-2854-026C-1340-C0506F4F0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82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ED64-087C-F41F-8F84-BE74BEF4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9FEC6-10F3-E2C8-CA1B-6B1A8FB1B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7DEA6-AB5E-D938-E2FD-2B3B6E5F3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1B877-2AB8-051B-56A3-BE0568165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02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317D-878B-8FBD-18D7-1373281BF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6DC99-E2C3-BC18-7A6B-7CA1E72E7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95826-48DF-CC5D-DAD4-82967F95B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BCD11-9E05-B214-B4B7-7714B9C9A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50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0E93E-CCDA-D13C-F21F-72F799C0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792C7-57C1-8456-E7B7-BD8D9F7B7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2EE84-E2CB-46BA-9F8B-FFCC6055D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10606-4B50-7766-011C-6D8C9E807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01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2F1BE-AE92-5A61-7017-886D0058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516D0-C11F-87CC-6E24-6B4F035AC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6ECDE-275D-ADE9-C0AA-0C200423F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C1370-D9CE-7CD2-BF84-E5FBCEEE2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64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23178-C06A-5F2F-F9CA-D94280CE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97AAB-0B4B-E71F-D4BB-8CC3A4EE5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00CB4-DD5E-FE1E-A0ED-EBFF95ECE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F7922-24CD-7CE8-DC60-969450E02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11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B5BAF-CB8C-F532-B2EC-3B4C3E6D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968F6-E3E3-24EA-CADD-0F2BCE3A1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AB7BD-2ECA-C871-2D77-CD98C6BCB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10A89-5531-9C88-FC65-C57AC1D06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80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D845-39C0-6846-5D05-B5311F12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19A34-C645-CE05-227E-8229A70BB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D5AD8-AE90-0800-CA37-BF15DB667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80106-197E-E169-264A-B3A3825E6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11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BC80-876A-BC41-E8E4-3CE549E9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E9E14-B8AA-AEFE-6A6F-5419F4BDF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AB6F0-3B32-EA39-E94E-2AB30BC43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A3B12-4F24-F5F9-753B-C12EC8693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01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9519F-517D-867E-2935-D7254A53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2AFCA-072A-F2CF-C1D7-E643ABF54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71790-C59B-3F1F-CCA2-74EEAA63D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96AB4-3F24-8D4D-07E1-BFFF69E5E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94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64D7D-4907-3CB5-FE05-026293C1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ECD6E-EC98-4DD7-AC5F-470EF3EAD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3BCD2-3E7B-83A2-AE6A-4FD0F981E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8F34A-60ED-2155-AD45-8F610A17F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8AC6B-5435-4BE7-803C-F72F204B4DE0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47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arator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12192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Separator</a:t>
            </a:r>
          </a:p>
        </p:txBody>
      </p:sp>
      <p:pic>
        <p:nvPicPr>
          <p:cNvPr id="3" name="Picture 2" descr="NWU PPT Wide Opt 3_Separato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2625494" y="3589867"/>
            <a:ext cx="2462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47570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381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WU PPT Wide Opt 3_Cov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626" y="543697"/>
            <a:ext cx="11284375" cy="5140411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i="1" dirty="0">
                <a:solidFill>
                  <a:srgbClr val="FFFF00"/>
                </a:solidFill>
              </a:rPr>
              <a:t>Aurora Multi-Asset Navigator (AMAN): A Quantitative ETF Strategy for Busy Professionals</a:t>
            </a:r>
            <a:br>
              <a:rPr lang="en-US" sz="4400" i="1" dirty="0"/>
            </a:br>
            <a:br>
              <a:rPr lang="en-US" sz="1800" i="1" dirty="0"/>
            </a:br>
            <a:r>
              <a:rPr lang="en-US" sz="1800" i="1" dirty="0"/>
              <a:t>MSDS 451 Financial Engineering </a:t>
            </a:r>
            <a:br>
              <a:rPr lang="en-US" sz="1800" i="1" dirty="0"/>
            </a:br>
            <a:br>
              <a:rPr lang="en-US" sz="1800" i="1" dirty="0"/>
            </a:br>
            <a:br>
              <a:rPr lang="en-US" sz="1800" i="1" dirty="0"/>
            </a:br>
            <a:r>
              <a:rPr lang="en-US" sz="1800" i="1" dirty="0"/>
              <a:t>Term project</a:t>
            </a:r>
            <a:br>
              <a:rPr lang="en-US" sz="1800" i="1" dirty="0"/>
            </a:br>
            <a:br>
              <a:rPr lang="en-US" sz="1800" i="1" dirty="0"/>
            </a:br>
            <a:br>
              <a:rPr lang="en-US" sz="1800" i="1" dirty="0"/>
            </a:br>
            <a:r>
              <a:rPr lang="en-US" sz="1800" i="1" dirty="0"/>
              <a:t>James Chun Kit Kwok</a:t>
            </a:r>
            <a:br>
              <a:rPr lang="en-US" sz="1800" i="1" dirty="0"/>
            </a:br>
            <a:br>
              <a:rPr lang="en-US" sz="1800" i="1" dirty="0"/>
            </a:br>
            <a:br>
              <a:rPr lang="en-US" sz="1800" i="1" dirty="0"/>
            </a:br>
            <a:endParaRPr lang="en-US" sz="4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D4224-1DB8-4C4F-9F81-73C8C451B41F}"/>
              </a:ext>
            </a:extLst>
          </p:cNvPr>
          <p:cNvSpPr/>
          <p:nvPr/>
        </p:nvSpPr>
        <p:spPr>
          <a:xfrm>
            <a:off x="8554806" y="6290142"/>
            <a:ext cx="3021311" cy="369332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rgbClr val="8064A2"/>
                </a:solidFill>
                <a:latin typeface="Calibri"/>
              </a:rPr>
              <a:t>Nov 11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US" sz="1600" dirty="0">
                <a:solidFill>
                  <a:srgbClr val="8064A2"/>
                </a:solidFill>
                <a:latin typeface="Calibri"/>
              </a:rPr>
              <a:t>2025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8064A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64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795E93-C738-1F4D-BED5-28173F731B2C}"/>
              </a:ext>
            </a:extLst>
          </p:cNvPr>
          <p:cNvSpPr txBox="1"/>
          <p:nvPr/>
        </p:nvSpPr>
        <p:spPr>
          <a:xfrm>
            <a:off x="598816" y="557169"/>
            <a:ext cx="11362525" cy="4478790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C000"/>
                </a:solidFill>
              </a:rPr>
              <a:t>Motivation &amp; Problem Statement</a:t>
            </a:r>
            <a:endParaRPr lang="en-US" sz="3200" b="1" cap="all" dirty="0">
              <a:solidFill>
                <a:srgbClr val="FFC000"/>
              </a:solidFill>
              <a:latin typeface="+mn-ea"/>
              <a:cs typeface="Calibri" panose="020F0502020204030204" pitchFamily="34" charset="0"/>
            </a:endParaRP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Most professionals lack time to manage portfolios actively</a:t>
            </a:r>
            <a:endParaRPr lang="en-US" dirty="0">
              <a:solidFill>
                <a:schemeClr val="bg1"/>
              </a:solidFill>
              <a:latin typeface="Aptos" panose="020B0004020202020204"/>
              <a:ea typeface="Calibri"/>
              <a:cs typeface="Calibri"/>
            </a:endParaRP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Markets are volatile and behavioral bias hurts performance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Goal: develop an adaptive, rule-based, data-driven ETF strategy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Core: </a:t>
            </a:r>
            <a:r>
              <a:rPr lang="en-US" sz="3200" dirty="0">
                <a:latin typeface="Calibri"/>
                <a:ea typeface="Calibri"/>
                <a:cs typeface="Calibri"/>
              </a:rPr>
              <a:t>automation + discipline + transparency + risk control 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84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C19B-FEAC-AF24-CA75-21A8747F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C4D6E-FCDB-464D-C228-933B8033A2F9}"/>
              </a:ext>
            </a:extLst>
          </p:cNvPr>
          <p:cNvSpPr txBox="1"/>
          <p:nvPr/>
        </p:nvSpPr>
        <p:spPr>
          <a:xfrm>
            <a:off x="974103" y="204720"/>
            <a:ext cx="10243793" cy="6448560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Investment Philosophy</a:t>
            </a: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Core principle: </a:t>
            </a:r>
            <a:r>
              <a:rPr lang="en-US" sz="3200" i="1" dirty="0"/>
              <a:t>consistent long-term growth with risk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Adaptive allocation  =  momentum + volatility control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Objective: outperform 60/40 benchmark on a </a:t>
            </a:r>
            <a:r>
              <a:rPr lang="en-US" sz="3200" b="1" dirty="0"/>
              <a:t>risk-adjusted basis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Annual fees: 1 % management  •  20 % performance (simulated)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519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F314-2325-C883-72D9-434068C9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A5E64D-F360-30BF-2D64-1D9EF21058D7}"/>
              </a:ext>
            </a:extLst>
          </p:cNvPr>
          <p:cNvSpPr txBox="1"/>
          <p:nvPr/>
        </p:nvSpPr>
        <p:spPr>
          <a:xfrm>
            <a:off x="974103" y="204720"/>
            <a:ext cx="10243793" cy="6202339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Literature Foundation</a:t>
            </a:r>
          </a:p>
          <a:p>
            <a:pPr>
              <a:lnSpc>
                <a:spcPct val="150000"/>
              </a:lnSpc>
            </a:pP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r>
              <a:rPr lang="en-US" sz="3200" b="1" dirty="0"/>
              <a:t>Content:</a:t>
            </a:r>
          </a:p>
          <a:p>
            <a:endParaRPr lang="en-US" sz="3200" dirty="0"/>
          </a:p>
          <a:p>
            <a:r>
              <a:rPr lang="en-US" sz="3200" i="1" dirty="0"/>
              <a:t>Jegadeesh &amp; Titman (1993):</a:t>
            </a:r>
            <a:r>
              <a:rPr lang="en-US" sz="3200" dirty="0"/>
              <a:t> Momentum persistence</a:t>
            </a:r>
          </a:p>
          <a:p>
            <a:endParaRPr lang="en-US" sz="3200" dirty="0"/>
          </a:p>
          <a:p>
            <a:r>
              <a:rPr lang="en-US" sz="3200" i="1" dirty="0" err="1"/>
              <a:t>Asness</a:t>
            </a:r>
            <a:r>
              <a:rPr lang="en-US" sz="3200" i="1" dirty="0"/>
              <a:t> et al. (2012):</a:t>
            </a:r>
            <a:r>
              <a:rPr lang="en-US" sz="3200" dirty="0"/>
              <a:t> Risk parity and volatility targeting</a:t>
            </a:r>
          </a:p>
          <a:p>
            <a:endParaRPr lang="en-US" sz="3200" dirty="0"/>
          </a:p>
          <a:p>
            <a:r>
              <a:rPr lang="en-US" sz="3200" i="1" dirty="0"/>
              <a:t>Lopez de Prado (2018):</a:t>
            </a:r>
            <a:r>
              <a:rPr lang="en-US" sz="3200" dirty="0"/>
              <a:t> Financial machine learning &amp; adaptive models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1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8E4FC-EEA0-7BDF-8C0E-A958372E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9B1EC-6BFB-CBCA-9D9A-8436A09E823A}"/>
              </a:ext>
            </a:extLst>
          </p:cNvPr>
          <p:cNvSpPr txBox="1"/>
          <p:nvPr/>
        </p:nvSpPr>
        <p:spPr>
          <a:xfrm>
            <a:off x="974103" y="204720"/>
            <a:ext cx="10243793" cy="5709896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Data &amp; Asset Universe</a:t>
            </a:r>
          </a:p>
          <a:p>
            <a:pPr>
              <a:lnSpc>
                <a:spcPct val="150000"/>
              </a:lnSpc>
            </a:pP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5 ETFs: SPY • EFA • IEF • VNQ • GLD</a:t>
            </a:r>
            <a:br>
              <a:rPr lang="en-US" sz="3200" dirty="0"/>
            </a:b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Period: Jan 2004 – Oct 2024</a:t>
            </a:r>
            <a:br>
              <a:rPr lang="en-US" sz="3200" dirty="0"/>
            </a:b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Source: Yahoo Finance (</a:t>
            </a:r>
            <a:r>
              <a:rPr lang="en-US" sz="3200" dirty="0" err="1"/>
              <a:t>yfinance</a:t>
            </a:r>
            <a:r>
              <a:rPr lang="en-US" sz="3200" dirty="0"/>
              <a:t> API)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Rebalance: every 21 trading days (≈monthly)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7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2F40-5BC6-F500-ED5F-8BF79CCE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767687-FA56-C28F-8DB6-2E05F5D49D2E}"/>
              </a:ext>
            </a:extLst>
          </p:cNvPr>
          <p:cNvSpPr txBox="1"/>
          <p:nvPr/>
        </p:nvSpPr>
        <p:spPr>
          <a:xfrm>
            <a:off x="345989" y="204720"/>
            <a:ext cx="11652422" cy="5709896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Core Model Design</a:t>
            </a:r>
          </a:p>
          <a:p>
            <a:pPr>
              <a:lnSpc>
                <a:spcPct val="150000"/>
              </a:lnSpc>
            </a:pP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12-1 momentum signal + 60-day volatility signal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Weight = momentum ÷ volatility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40 % cap per asset • Defensive mode = 60 % IEF + 40 % GLD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Flow chart: data → signals → weights → allocation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48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4E9B-B2F5-6FBC-1C36-8EDAC866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073F3-1277-8638-AEF8-11D9DC46B431}"/>
              </a:ext>
            </a:extLst>
          </p:cNvPr>
          <p:cNvSpPr txBox="1"/>
          <p:nvPr/>
        </p:nvSpPr>
        <p:spPr>
          <a:xfrm>
            <a:off x="504546" y="464212"/>
            <a:ext cx="11135519" cy="5709896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Machine Learning Overlays</a:t>
            </a:r>
          </a:p>
          <a:p>
            <a:pPr>
              <a:lnSpc>
                <a:spcPct val="150000"/>
              </a:lnSpc>
            </a:pP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LSTM:</a:t>
            </a:r>
            <a:r>
              <a:rPr lang="en-US" sz="3200" dirty="0"/>
              <a:t> captures sequential market behavior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XGBoost</a:t>
            </a:r>
            <a:r>
              <a:rPr lang="en-US" sz="3200" b="1" dirty="0"/>
              <a:t>:</a:t>
            </a:r>
            <a:r>
              <a:rPr lang="en-US" sz="3200" dirty="0"/>
              <a:t> detects nonlinear feature patterns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Ensemble overlay:</a:t>
            </a:r>
            <a:r>
              <a:rPr lang="en-US" sz="3200" dirty="0"/>
              <a:t> combines both with smoothing filter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en-US" sz="3200" dirty="0"/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89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6ED90-DBDA-5C49-6CF5-BC081F93D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ABAEA-1E7A-6E06-9844-3348029F7395}"/>
              </a:ext>
            </a:extLst>
          </p:cNvPr>
          <p:cNvSpPr txBox="1"/>
          <p:nvPr/>
        </p:nvSpPr>
        <p:spPr>
          <a:xfrm>
            <a:off x="345989" y="204720"/>
            <a:ext cx="11652422" cy="521745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 err="1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Backtesting</a:t>
            </a: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 Setup</a:t>
            </a: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Initial capital = $100 000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Management fee = 2 % • Performance fee = 20 %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Transaction cost = 5 bps per turnover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Benchmarks: Equal-Weight &amp; 60/40 portfolio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Monte Carlo simulation + daily rebalancing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78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7BBE1-9CB2-34AB-9E55-2C00F6FB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588DE-631A-BE2A-63DE-067746469211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latin typeface="+mj-lt"/>
                <a:ea typeface="+mj-ea"/>
                <a:cs typeface="+mj-cs"/>
              </a:rPr>
              <a:t>Performance Results</a:t>
            </a:r>
            <a:endParaRPr lang="en-US" sz="4400" b="1" kern="1200" cap="all">
              <a:latin typeface="+mj-lt"/>
              <a:ea typeface="+mj-ea"/>
              <a:cs typeface="+mj-cs"/>
            </a:endParaRPr>
          </a:p>
          <a:p>
            <a:pPr marL="380365" indent="-380365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kern="12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2F4B41-95D1-257C-9AA0-9460ABA85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07554"/>
              </p:ext>
            </p:extLst>
          </p:nvPr>
        </p:nvGraphicFramePr>
        <p:xfrm>
          <a:off x="1118214" y="1825625"/>
          <a:ext cx="9955575" cy="435134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2036590">
                  <a:extLst>
                    <a:ext uri="{9D8B030D-6E8A-4147-A177-3AD203B41FA5}">
                      <a16:colId xmlns:a16="http://schemas.microsoft.com/office/drawing/2014/main" val="1444871475"/>
                    </a:ext>
                  </a:extLst>
                </a:gridCol>
                <a:gridCol w="1695426">
                  <a:extLst>
                    <a:ext uri="{9D8B030D-6E8A-4147-A177-3AD203B41FA5}">
                      <a16:colId xmlns:a16="http://schemas.microsoft.com/office/drawing/2014/main" val="37890042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419360513"/>
                    </a:ext>
                  </a:extLst>
                </a:gridCol>
                <a:gridCol w="1276126">
                  <a:extLst>
                    <a:ext uri="{9D8B030D-6E8A-4147-A177-3AD203B41FA5}">
                      <a16:colId xmlns:a16="http://schemas.microsoft.com/office/drawing/2014/main" val="3240462051"/>
                    </a:ext>
                  </a:extLst>
                </a:gridCol>
                <a:gridCol w="1924140">
                  <a:extLst>
                    <a:ext uri="{9D8B030D-6E8A-4147-A177-3AD203B41FA5}">
                      <a16:colId xmlns:a16="http://schemas.microsoft.com/office/drawing/2014/main" val="1692419743"/>
                    </a:ext>
                  </a:extLst>
                </a:gridCol>
                <a:gridCol w="1833761">
                  <a:extLst>
                    <a:ext uri="{9D8B030D-6E8A-4147-A177-3AD203B41FA5}">
                      <a16:colId xmlns:a16="http://schemas.microsoft.com/office/drawing/2014/main" val="3601549655"/>
                    </a:ext>
                  </a:extLst>
                </a:gridCol>
              </a:tblGrid>
              <a:tr h="6216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727" marR="13680" marT="131328" marB="13132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ann_return</a:t>
                      </a:r>
                    </a:p>
                  </a:txBody>
                  <a:tcPr marL="170727" marR="13680" marT="131328" marB="131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ann_vol</a:t>
                      </a:r>
                    </a:p>
                  </a:txBody>
                  <a:tcPr marL="170727" marR="13680" marT="131328" marB="131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sharpe</a:t>
                      </a:r>
                    </a:p>
                  </a:txBody>
                  <a:tcPr marL="170727" marR="13680" marT="131328" marB="131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max_drawdown</a:t>
                      </a:r>
                    </a:p>
                  </a:txBody>
                  <a:tcPr marL="170727" marR="13680" marT="131328" marB="131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terminal_value</a:t>
                      </a:r>
                    </a:p>
                  </a:txBody>
                  <a:tcPr marL="170727" marR="13680" marT="131328" marB="131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1601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AMAN_net</a:t>
                      </a:r>
                    </a:p>
                  </a:txBody>
                  <a:tcPr marL="170727" marR="13680" marT="131328" marB="131328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4.38%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10.11%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0.42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-25.2%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2.27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39482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AMAN_LSTM_net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4.06%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9.62%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0.41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-23.5%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2.15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5522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AMAN_XGB_net</a:t>
                      </a:r>
                    </a:p>
                  </a:txBody>
                  <a:tcPr marL="170727" marR="13680" marT="131328" marB="131328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4.35%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9.91%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0.43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-25.2%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2.27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586537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AMAN_ENS_net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4.19%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9.91%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0.41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-21.8%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2.19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57457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EW_net</a:t>
                      </a:r>
                    </a:p>
                  </a:txBody>
                  <a:tcPr marL="170727" marR="13680" marT="131328" marB="131328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5.83%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12.99%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0.44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-38.0%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2.85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29697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60_40_net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4.50%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12.02%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0.37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-37.5%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2.22</a:t>
                      </a:r>
                    </a:p>
                  </a:txBody>
                  <a:tcPr marL="170727" marR="13680" marT="131328" marB="131328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888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30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E602-6838-0F56-320E-352C566E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4981A-34E2-5154-C20C-3362C1A56AEA}"/>
              </a:ext>
            </a:extLst>
          </p:cNvPr>
          <p:cNvSpPr txBox="1"/>
          <p:nvPr/>
        </p:nvSpPr>
        <p:spPr>
          <a:xfrm>
            <a:off x="345989" y="204720"/>
            <a:ext cx="11652422" cy="349390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Visualization Highlights </a:t>
            </a: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Curves: cumulative NAV comparison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Drawdown chart showing shallower losses for AMAN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Rolling Sharpe chart highlighting stability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Image placeholders for your generated figures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729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03084-EE2D-4ACC-E35C-1AC89446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00EB99-1230-D457-AF5D-686E4DAAAE3B}"/>
              </a:ext>
            </a:extLst>
          </p:cNvPr>
          <p:cNvSpPr txBox="1"/>
          <p:nvPr/>
        </p:nvSpPr>
        <p:spPr>
          <a:xfrm>
            <a:off x="345989" y="204720"/>
            <a:ext cx="11652422" cy="472501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Interpretation</a:t>
            </a:r>
          </a:p>
          <a:p>
            <a:pPr>
              <a:lnSpc>
                <a:spcPct val="150000"/>
              </a:lnSpc>
            </a:pP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AI overlays improved risk control and timing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Ensemble produced </a:t>
            </a:r>
            <a:r>
              <a:rPr lang="en-US" sz="3200" b="1" dirty="0"/>
              <a:t>most stable Sharpe</a:t>
            </a:r>
            <a:r>
              <a:rPr lang="en-US" sz="3200" dirty="0"/>
              <a:t> and </a:t>
            </a:r>
            <a:r>
              <a:rPr lang="en-US" sz="3200" b="1" dirty="0"/>
              <a:t>lowest drawdown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AMAN balanced performance and safety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Suitable for busy professionals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793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2595D-9E0A-D3B7-22D6-051F940C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3E0BF9-6BF5-F07B-9DE0-99BFFE00C2B2}"/>
              </a:ext>
            </a:extLst>
          </p:cNvPr>
          <p:cNvSpPr txBox="1"/>
          <p:nvPr/>
        </p:nvSpPr>
        <p:spPr>
          <a:xfrm>
            <a:off x="345989" y="204720"/>
            <a:ext cx="11652422" cy="5956118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Management Recommendation</a:t>
            </a:r>
          </a:p>
          <a:p>
            <a:pPr>
              <a:lnSpc>
                <a:spcPct val="150000"/>
              </a:lnSpc>
            </a:pP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Launch as a boutique AI-assisted ETF or managed portfolio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Target market: busy professionals • institutional clients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Fees cover data cost &amp; automation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Role: Fund Manager &amp; Research Director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Graphic: fund structure diagram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38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9218-9AE8-2D95-3D92-F0390470C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B7AC4F-5E88-2A68-36FB-FB211623D7BC}"/>
              </a:ext>
            </a:extLst>
          </p:cNvPr>
          <p:cNvSpPr txBox="1"/>
          <p:nvPr/>
        </p:nvSpPr>
        <p:spPr>
          <a:xfrm>
            <a:off x="345989" y="204720"/>
            <a:ext cx="11652422" cy="521745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Future Development</a:t>
            </a:r>
          </a:p>
          <a:p>
            <a:pPr>
              <a:lnSpc>
                <a:spcPct val="150000"/>
              </a:lnSpc>
            </a:pP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Periodic model retraining to address drift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Incorporate macroeconomic and sentiment data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Expand asset universe and stress testing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Explore reinforcement learning allocation</a:t>
            </a:r>
          </a:p>
          <a:p>
            <a:pPr marL="380365" indent="-38036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595B-B700-D6BC-C987-D493471E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6EA9F8-DD6C-72A3-B5D3-B7FFCCDDC729}"/>
              </a:ext>
            </a:extLst>
          </p:cNvPr>
          <p:cNvSpPr txBox="1"/>
          <p:nvPr/>
        </p:nvSpPr>
        <p:spPr>
          <a:xfrm>
            <a:off x="345989" y="204720"/>
            <a:ext cx="11652422" cy="521745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Conclusion</a:t>
            </a:r>
          </a:p>
          <a:p>
            <a:pPr>
              <a:lnSpc>
                <a:spcPct val="150000"/>
              </a:lnSpc>
            </a:pPr>
            <a:endParaRPr lang="en-US" sz="3200" b="1" cap="all" dirty="0">
              <a:latin typeface="+mn-ea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AMAN = disciplined, adaptive, AI-enhanced investing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Outperformed benchmarks on risk-adjusted basis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Low maintenance strategy for busy professionals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“Intelligent investing for the modern era.”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73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A636-5BE5-9BFC-9872-0CEEAB71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854825-6E7A-AD47-60C4-8CE3288CE694}"/>
              </a:ext>
            </a:extLst>
          </p:cNvPr>
          <p:cNvSpPr txBox="1"/>
          <p:nvPr/>
        </p:nvSpPr>
        <p:spPr>
          <a:xfrm>
            <a:off x="269789" y="241790"/>
            <a:ext cx="11652422" cy="4041106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6600" b="1" dirty="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Q&amp;A</a:t>
            </a:r>
            <a:endParaRPr lang="en-US" sz="6600" b="1" cap="all" dirty="0">
              <a:latin typeface="+mn-ea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8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518933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85005E6318D64CA21EECD44C6D26A1" ma:contentTypeVersion="18" ma:contentTypeDescription="Create a new document." ma:contentTypeScope="" ma:versionID="779ea91b011a08aca3cad72ce73a8e03">
  <xsd:schema xmlns:xsd="http://www.w3.org/2001/XMLSchema" xmlns:xs="http://www.w3.org/2001/XMLSchema" xmlns:p="http://schemas.microsoft.com/office/2006/metadata/properties" xmlns:ns2="eaa5f7b0-3c53-4e2a-a0fe-aac032fdafa7" xmlns:ns3="8503a60f-c1f9-4393-8a3b-40d071c32974" xmlns:ns4="efce84db-8738-4c7b-9bdc-65b9500871f6" targetNamespace="http://schemas.microsoft.com/office/2006/metadata/properties" ma:root="true" ma:fieldsID="2f38b8173c0d2a4b8133ad7925277419" ns2:_="" ns3:_="" ns4:_="">
    <xsd:import namespace="eaa5f7b0-3c53-4e2a-a0fe-aac032fdafa7"/>
    <xsd:import namespace="8503a60f-c1f9-4393-8a3b-40d071c32974"/>
    <xsd:import namespace="efce84db-8738-4c7b-9bdc-65b9500871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a5f7b0-3c53-4e2a-a0fe-aac032fdaf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2d55d72-5afa-45f9-90b6-e0708aeee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03a60f-c1f9-4393-8a3b-40d071c3297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e84db-8738-4c7b-9bdc-65b9500871f6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0f18c6cd-3d9b-4aad-86a1-a68fb809c9b9}" ma:internalName="TaxCatchAll" ma:showField="CatchAllData" ma:web="8503a60f-c1f9-4393-8a3b-40d071c329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fce84db-8738-4c7b-9bdc-65b9500871f6" xsi:nil="true"/>
    <lcf76f155ced4ddcb4097134ff3c332f xmlns="eaa5f7b0-3c53-4e2a-a0fe-aac032fdaf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12A5E0D-3389-43D4-94AC-23AACD01B4A5}">
  <ds:schemaRefs>
    <ds:schemaRef ds:uri="8503a60f-c1f9-4393-8a3b-40d071c32974"/>
    <ds:schemaRef ds:uri="eaa5f7b0-3c53-4e2a-a0fe-aac032fdafa7"/>
    <ds:schemaRef ds:uri="efce84db-8738-4c7b-9bdc-65b9500871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FC8DBED-9AEB-45F1-A28D-6E237BC4F7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0BF89-2474-40B4-B169-B7F4E738D6D4}">
  <ds:schemaRefs>
    <ds:schemaRef ds:uri="http://www.w3.org/XML/1998/namespace"/>
    <ds:schemaRef ds:uri="8503a60f-c1f9-4393-8a3b-40d071c32974"/>
    <ds:schemaRef ds:uri="http://schemas.microsoft.com/office/2006/documentManagement/types"/>
    <ds:schemaRef ds:uri="http://purl.org/dc/dcmitype/"/>
    <ds:schemaRef ds:uri="eaa5f7b0-3c53-4e2a-a0fe-aac032fdafa7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fce84db-8738-4c7b-9bdc-65b9500871f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551</Words>
  <Application>Microsoft Macintosh PowerPoint</Application>
  <PresentationFormat>Widescreen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Calibri</vt:lpstr>
      <vt:lpstr>office theme</vt:lpstr>
      <vt:lpstr>Aurora Multi-Asset Navigator (AMAN): A Quantitative ETF Strategy for Busy Professionals  MSDS 451 Financial Engineering    Term project   James Chun Kit Kwok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James Chun Kit Kwok</cp:lastModifiedBy>
  <cp:revision>98</cp:revision>
  <dcterms:created xsi:type="dcterms:W3CDTF">2025-01-06T02:24:22Z</dcterms:created>
  <dcterms:modified xsi:type="dcterms:W3CDTF">2025-11-11T22:01:35Z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0x0101008985005E6318D64CA21EECD44C6D26A1</vt:lpwstr>
  </property>
  <property fmtid="{D5CDD505-2E9C-101B-9397-08002B2CF9AE}" pid="3" name="MediaServiceImageTags">
    <vt:lpwstr/>
  </property>
</Properties>
</file>